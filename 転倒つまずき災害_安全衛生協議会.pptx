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事例はいずれも建築現場で典型的に起こる転倒・つまずきのパターンです。自社・自現場のヒヤリハットがあれば差し替えて使ってください。
統計は厚生労働省の労働災害発生状況（休業4日以上）をもとにした概数です。協議会で数値を示す場合は最新年の公表値を確認してください。
ポイント：転倒は「軽い災害」と思われがちだが、休業1か月以上の重い災害になりやすい。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通路幅80cm以上は労働安全衛生規則の通路規定（機械間の通路等）を目安にしたものです。現場の計画に合わせて数値を調整してください。
協議会では、各社に①〜③の実施を依頼し、次回協議会でパトロール結果とあわせて振り返ります。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66928" cy="566928"/>
          </a:xfrm>
          <a:prstGeom prst="ellipse">
            <a:avLst/>
          </a:prstGeom>
          <a:solidFill>
            <a:srgbClr val="FFC20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4023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転倒・つまずき災害 ― 事例に学ぶ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291840" cy="5212080"/>
          </a:xfrm>
          <a:prstGeom prst="roundRect">
            <a:avLst>
              <a:gd name="adj" fmla="val 3333"/>
            </a:avLst>
          </a:prstGeom>
          <a:solidFill>
            <a:srgbClr val="22262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データで見る転倒災害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C2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約4件に1件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9572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C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休業4日以上の死傷災害のうち「転倒」が占める割合。事故の型別で最多（全産業）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C2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約6割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6732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C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転倒災害のうち休業見込みが1か月以上。「ただ転んだだけ」では済まない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572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C2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過半数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13892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C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被災者のうち50歳以上が占める割合。経験豊富なベテランほど要注意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出典：厚生労働省 労働災害統計をもとに概数で記載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023360" y="1097280"/>
            <a:ext cx="3739896" cy="2011680"/>
          </a:xfrm>
          <a:prstGeom prst="roundRect">
            <a:avLst>
              <a:gd name="adj" fmla="val 4545"/>
            </a:avLst>
          </a:prstGeom>
          <a:solidFill>
            <a:srgbClr val="F2F3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206240" y="1261872"/>
            <a:ext cx="384048" cy="38404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0624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126187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通路のケーブルにつまずき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206240" y="1755648"/>
            <a:ext cx="3374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5B61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仮設通路を横断する電工ドラムのコードに足を引っかけて前のめりに転倒、手をついた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726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配線を床に直置き。養生・表示なし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5B61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被害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右手首骨折（休業約1か月）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7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上部配線とケーブルプロテクターを徹底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991856" y="1097280"/>
            <a:ext cx="3739896" cy="2011680"/>
          </a:xfrm>
          <a:prstGeom prst="roundRect">
            <a:avLst>
              <a:gd name="adj" fmla="val 4545"/>
            </a:avLst>
          </a:prstGeom>
          <a:solidFill>
            <a:srgbClr val="F2F3F5"/>
          </a:solidFill>
          <a:ln/>
        </p:spPr>
      </p:sp>
      <p:sp>
        <p:nvSpPr>
          <p:cNvPr id="20" name="Shape 17"/>
          <p:cNvSpPr/>
          <p:nvPr/>
        </p:nvSpPr>
        <p:spPr>
          <a:xfrm>
            <a:off x="8174736" y="1261872"/>
            <a:ext cx="384048" cy="38404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174736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677656" y="126187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雨上がりの敷鉄板で滑る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174736" y="1755648"/>
            <a:ext cx="3374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5B61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搬入口の敷鉄板上を歩行中、雨水と泥で足を滑らせ尻もち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726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鉄板上の泥が未清掃。靴底もすり減っていた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5B61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被害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腰部打撲・尾骨挫傷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7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雨天後の泥除去を作業開始前点検に追加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023360" y="3337560"/>
            <a:ext cx="3739896" cy="2011680"/>
          </a:xfrm>
          <a:prstGeom prst="roundRect">
            <a:avLst>
              <a:gd name="adj" fmla="val 4545"/>
            </a:avLst>
          </a:prstGeom>
          <a:solidFill>
            <a:srgbClr val="F2F3F5"/>
          </a:solidFill>
          <a:ln/>
        </p:spPr>
      </p:sp>
      <p:sp>
        <p:nvSpPr>
          <p:cNvPr id="25" name="Shape 22"/>
          <p:cNvSpPr/>
          <p:nvPr/>
        </p:nvSpPr>
        <p:spPr>
          <a:xfrm>
            <a:off x="4206240" y="3502152"/>
            <a:ext cx="384048" cy="38404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20624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709160" y="350215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床養生の段差につまずき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206240" y="3995928"/>
            <a:ext cx="3374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5B61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床養生合板の継ぎ目の段差（約2cm）につま先が掛かり転倒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726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養生合板の固定不足。段差表示なし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5B61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被害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膝蓋骨打撲（休業2週間）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7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養生材を固定し継ぎ目をテープで平滑化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991856" y="3337560"/>
            <a:ext cx="3739896" cy="2011680"/>
          </a:xfrm>
          <a:prstGeom prst="roundRect">
            <a:avLst>
              <a:gd name="adj" fmla="val 4545"/>
            </a:avLst>
          </a:prstGeom>
          <a:solidFill>
            <a:srgbClr val="F2F3F5"/>
          </a:solidFill>
          <a:ln/>
        </p:spPr>
      </p:sp>
      <p:sp>
        <p:nvSpPr>
          <p:cNvPr id="30" name="Shape 27"/>
          <p:cNvSpPr/>
          <p:nvPr/>
        </p:nvSpPr>
        <p:spPr>
          <a:xfrm>
            <a:off x="8174736" y="3502152"/>
            <a:ext cx="384048" cy="38404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174736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677656" y="350215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資材を抱えて階段を踏み外し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174736" y="3995928"/>
            <a:ext cx="3374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5B61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両手で資材を抱えて仮設階段を下りる際、足元が見えず最後の一段を踏み外した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726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手すりを持てない運搬。階段の照明不足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5B61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被害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左足首捻挫・靱帯損傷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7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　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片手を空けて運搬、階段に照明を増設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023360" y="56235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共通する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要因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983480" y="5623560"/>
            <a:ext cx="1239926" cy="685800"/>
          </a:xfrm>
          <a:prstGeom prst="roundRect">
            <a:avLst>
              <a:gd name="adj" fmla="val 13333"/>
            </a:avLst>
          </a:prstGeom>
          <a:solidFill>
            <a:srgbClr val="FFC20E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983480" y="5623560"/>
            <a:ext cx="12399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整理整頓の不足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60566" y="5623560"/>
            <a:ext cx="1239926" cy="685800"/>
          </a:xfrm>
          <a:prstGeom prst="roundRect">
            <a:avLst>
              <a:gd name="adj" fmla="val 13333"/>
            </a:avLst>
          </a:prstGeom>
          <a:solidFill>
            <a:srgbClr val="FFC20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360566" y="5623560"/>
            <a:ext cx="12399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足元が見えない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737653" y="5623560"/>
            <a:ext cx="1239926" cy="685800"/>
          </a:xfrm>
          <a:prstGeom prst="roundRect">
            <a:avLst>
              <a:gd name="adj" fmla="val 13333"/>
            </a:avLst>
          </a:prstGeom>
          <a:solidFill>
            <a:srgbClr val="FFC20E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737653" y="5623560"/>
            <a:ext cx="12399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急ぎ・ながら歩行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9114739" y="5623560"/>
            <a:ext cx="1239926" cy="685800"/>
          </a:xfrm>
          <a:prstGeom prst="roundRect">
            <a:avLst>
              <a:gd name="adj" fmla="val 13333"/>
            </a:avLst>
          </a:prstGeom>
          <a:solidFill>
            <a:srgbClr val="FFC20E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114739" y="5623560"/>
            <a:ext cx="12399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照明・表示の不足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10491826" y="5623560"/>
            <a:ext cx="1239926" cy="685800"/>
          </a:xfrm>
          <a:prstGeom prst="roundRect">
            <a:avLst>
              <a:gd name="adj" fmla="val 13333"/>
            </a:avLst>
          </a:prstGeom>
          <a:solidFill>
            <a:srgbClr val="FFC20E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10491826" y="5623560"/>
            <a:ext cx="12399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履物・服装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66928" cy="566928"/>
          </a:xfrm>
          <a:prstGeom prst="ellipse">
            <a:avLst/>
          </a:prstGeom>
          <a:solidFill>
            <a:srgbClr val="FFC20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4023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転倒・つまずきを防ぐ 現場の安全ルール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FFC20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07008" y="1280160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通路を確保する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874520"/>
            <a:ext cx="23728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主要通路は幅80cm以上を確保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通路に資材・工具を仮置きしない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通路はラインやコーンで明示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仮置き場は指定場所のみ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332988" y="109728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11" name="Shape 7"/>
          <p:cNvSpPr/>
          <p:nvPr/>
        </p:nvSpPr>
        <p:spPr>
          <a:xfrm>
            <a:off x="3515868" y="1280160"/>
            <a:ext cx="457200" cy="457200"/>
          </a:xfrm>
          <a:prstGeom prst="ellipse">
            <a:avLst/>
          </a:prstGeom>
          <a:solidFill>
            <a:srgbClr val="FFC20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96" y="13898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82796" y="1280160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配線・ホースを整理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515868" y="1874520"/>
            <a:ext cx="23728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ケーブルは上部配線（吊り）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床横断はプロテクターで養生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使わない延長コードは即回収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ホースは壁際に寄せて固定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08776" y="109728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16" name="Shape 11"/>
          <p:cNvSpPr/>
          <p:nvPr/>
        </p:nvSpPr>
        <p:spPr>
          <a:xfrm>
            <a:off x="6391656" y="1280160"/>
            <a:ext cx="457200" cy="457200"/>
          </a:xfrm>
          <a:prstGeom prst="ellipse">
            <a:avLst/>
          </a:prstGeom>
          <a:solidFill>
            <a:srgbClr val="FFC20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38988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58584" y="1280160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段差・開口を養生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391656" y="1874520"/>
            <a:ext cx="23728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段差はスロープ化 or 黄黒表示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養生材は固定・継ぎ目テープ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開口部の蓋は固定・「開口」表示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めくれた養生は即補修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084564" y="109728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21" name="Shape 15"/>
          <p:cNvSpPr/>
          <p:nvPr/>
        </p:nvSpPr>
        <p:spPr>
          <a:xfrm>
            <a:off x="9267444" y="1280160"/>
            <a:ext cx="457200" cy="457200"/>
          </a:xfrm>
          <a:prstGeom prst="ellipse">
            <a:avLst/>
          </a:prstGeom>
          <a:solidFill>
            <a:srgbClr val="FFC20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172" y="13898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834372" y="1280160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滑りを防ぐ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9267444" y="1874520"/>
            <a:ext cx="23728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雨天後は敷鉄板・足場板の泥除去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油・水こぼれはその場で拭き取り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出入口に滑り止めマットを設置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凍結時は砂・融雪剤で対策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338328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26" name="Shape 19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FFC20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67588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07008" y="3566160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明るさを確保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640080" y="4160520"/>
            <a:ext cx="23728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通路・階段・地下は照明を設置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球切れ・暗がりは見つけ次第報告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夕方以降の作業は照度を再確認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明暗差の大きい出入口に注意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3332988" y="338328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31" name="Shape 23"/>
          <p:cNvSpPr/>
          <p:nvPr/>
        </p:nvSpPr>
        <p:spPr>
          <a:xfrm>
            <a:off x="3515868" y="3566160"/>
            <a:ext cx="457200" cy="457200"/>
          </a:xfrm>
          <a:prstGeom prst="ellipse">
            <a:avLst/>
          </a:prstGeom>
          <a:solidFill>
            <a:srgbClr val="FFC20E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5596" y="367588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082796" y="3566160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歩き方のルール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3515868" y="4160520"/>
            <a:ext cx="23728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両手持ちで階段を昇降しない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階段は手すりを持つ、走らない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ポケットに手・スマホ歩きは禁止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急ぐときほど足元を確認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208776" y="338328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36" name="Shape 27"/>
          <p:cNvSpPr/>
          <p:nvPr/>
        </p:nvSpPr>
        <p:spPr>
          <a:xfrm>
            <a:off x="6391656" y="3566160"/>
            <a:ext cx="457200" cy="457200"/>
          </a:xfrm>
          <a:prstGeom prst="ellipse">
            <a:avLst/>
          </a:prstGeom>
          <a:solidFill>
            <a:srgbClr val="FFC20E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384" y="3675888"/>
            <a:ext cx="237744" cy="23774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958584" y="3566160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履物・服装</a:t>
            </a:r>
            <a:endParaRPr lang="en-US" sz="1400" dirty="0"/>
          </a:p>
        </p:txBody>
      </p:sp>
      <p:sp>
        <p:nvSpPr>
          <p:cNvPr id="39" name="Text 29"/>
          <p:cNvSpPr txBox="1"/>
          <p:nvPr/>
        </p:nvSpPr>
        <p:spPr>
          <a:xfrm>
            <a:off x="6391656" y="4160520"/>
            <a:ext cx="23728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滑りにくい安全靴を着用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靴底のすり減りは早めに交換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靴ひもは確実に締める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ズボンの裾を引きずらない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9084564" y="338328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41" name="Shape 31"/>
          <p:cNvSpPr/>
          <p:nvPr/>
        </p:nvSpPr>
        <p:spPr>
          <a:xfrm>
            <a:off x="9267444" y="3566160"/>
            <a:ext cx="457200" cy="457200"/>
          </a:xfrm>
          <a:prstGeom prst="ellipse">
            <a:avLst/>
          </a:prstGeom>
          <a:solidFill>
            <a:srgbClr val="FFC20E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7172" y="3675888"/>
            <a:ext cx="237744" cy="237744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834372" y="3566160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こまめに片付け</a:t>
            </a:r>
            <a:endParaRPr lang="en-US" sz="1400" dirty="0"/>
          </a:p>
        </p:txBody>
      </p:sp>
      <p:sp>
        <p:nvSpPr>
          <p:cNvPr id="44" name="Text 33"/>
          <p:cNvSpPr txBox="1"/>
          <p:nvPr/>
        </p:nvSpPr>
        <p:spPr>
          <a:xfrm>
            <a:off x="9267444" y="4160520"/>
            <a:ext cx="23728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端材・梱包材は発生の都度片付け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作業終了時に持ち場を5S点検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片付け担当・置き場を明確に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他業者の残材も声かけで処理</a:t>
            </a: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457200" y="5669280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22262C"/>
          </a:solidFill>
          <a:ln/>
        </p:spPr>
      </p:sp>
      <p:sp>
        <p:nvSpPr>
          <p:cNvPr id="46" name="Text 35"/>
          <p:cNvSpPr txBox="1"/>
          <p:nvPr/>
        </p:nvSpPr>
        <p:spPr>
          <a:xfrm>
            <a:off x="731520" y="56692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BE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合言葉</a:t>
            </a:r>
            <a:endParaRPr lang="en-US" sz="1100" dirty="0"/>
          </a:p>
        </p:txBody>
      </p:sp>
      <p:sp>
        <p:nvSpPr>
          <p:cNvPr id="47" name="Text 36"/>
          <p:cNvSpPr txBox="1"/>
          <p:nvPr/>
        </p:nvSpPr>
        <p:spPr>
          <a:xfrm>
            <a:off x="1463040" y="5669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「足元よし！通路よし！」</a:t>
            </a:r>
            <a:endParaRPr lang="en-US" sz="2200" dirty="0"/>
          </a:p>
        </p:txBody>
      </p:sp>
      <p:sp>
        <p:nvSpPr>
          <p:cNvPr id="48" name="Text 37"/>
          <p:cNvSpPr txBox="1"/>
          <p:nvPr/>
        </p:nvSpPr>
        <p:spPr>
          <a:xfrm>
            <a:off x="5760720" y="56692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各社へのお願い　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DC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朝礼・KYで本ルールを周知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DC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持込機材の配線ルートを事前調整　③ 終業時の片付けを職長が確認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転倒・つまずき災害 防止</dc:title>
  <dc:subject>PptxGenJS Presentation</dc:subject>
  <dc:creator>PptxGenJS</dc:creator>
  <cp:lastModifiedBy>PptxGenJS</cp:lastModifiedBy>
  <cp:revision>1</cp:revision>
  <dcterms:created xsi:type="dcterms:W3CDTF">2026-09-30T05:02:20Z</dcterms:created>
  <dcterms:modified xsi:type="dcterms:W3CDTF">2026-09-30T05:02:20Z</dcterms:modified>
</cp:coreProperties>
</file>